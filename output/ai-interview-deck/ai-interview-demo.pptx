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82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5"/>
          <c:y val="0.12"/>
          <c:w val="0.72"/>
          <c:h val="0.7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权重</c:v>
                </c:pt>
              </c:strCache>
            </c:strRef>
          </c:tx>
          <c:spPr>
            <a:solidFill>
              <a:srgbClr val="2F6BF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62033"/>
                    </a:solidFill>
                    <a:latin typeface="Arial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执行</c:v>
                </c:pt>
                <c:pt idx="1">
                  <c:v>证据</c:v>
                </c:pt>
                <c:pt idx="2">
                  <c:v>Tool</c:v>
                </c:pt>
                <c:pt idx="3">
                  <c:v>响应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30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2F-4EF4-A95F-C68327D0743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12700" cap="flat">
              <a:solidFill>
                <a:srgbClr val="D9E2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7653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32336" y="0"/>
            <a:ext cx="109728" cy="6858000"/>
          </a:xfrm>
          <a:prstGeom prst="rect">
            <a:avLst/>
          </a:prstGeom>
          <a:solidFill>
            <a:srgbClr val="2F6BFF">
              <a:alpha val="55000"/>
            </a:srgbClr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73152"/>
          </a:xfrm>
          <a:prstGeom prst="rect">
            <a:avLst/>
          </a:prstGeom>
          <a:solidFill>
            <a:srgbClr val="19A7A8">
              <a:alpha val="62000"/>
            </a:srgbClr>
          </a:solidFill>
          <a:ln w="12700">
            <a:solidFill>
              <a:srgbClr val="19A7A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512064"/>
            <a:ext cx="10881360" cy="0"/>
          </a:xfrm>
          <a:prstGeom prst="line">
            <a:avLst/>
          </a:prstGeom>
          <a:noFill/>
          <a:ln w="13970">
            <a:solidFill>
              <a:srgbClr val="3341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76688" y="21945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49808" y="960120"/>
            <a:ext cx="555213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6D3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ERP 智能助手后端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417320"/>
            <a:ext cx="5760720" cy="408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</a:t>
            </a:r>
            <a:r>
              <a:rPr lang="en-US" sz="2800" b="1" dirty="0" err="1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架构亮点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720840" y="1042416"/>
            <a:ext cx="4553712" cy="4553712"/>
          </a:xfrm>
          <a:prstGeom prst="roundRect">
            <a:avLst>
              <a:gd name="adj" fmla="val 1606"/>
            </a:avLst>
          </a:prstGeom>
          <a:solidFill>
            <a:srgbClr val="15233A">
              <a:alpha val="96000"/>
            </a:srgbClr>
          </a:solidFill>
          <a:ln w="15240">
            <a:solidFill>
              <a:srgbClr val="3C4C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59168" y="137160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FC5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演示框架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059168" y="2075688"/>
            <a:ext cx="3529584" cy="0"/>
          </a:xfrm>
          <a:prstGeom prst="line">
            <a:avLst/>
          </a:prstGeom>
          <a:noFill/>
          <a:ln w="10160">
            <a:solidFill>
              <a:srgbClr val="2B3B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59168" y="178308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B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62672" y="1773936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声明式 AI 编排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059168" y="2734056"/>
            <a:ext cx="3529584" cy="0"/>
          </a:xfrm>
          <a:prstGeom prst="line">
            <a:avLst/>
          </a:prstGeom>
          <a:noFill/>
          <a:ln w="10160">
            <a:solidFill>
              <a:srgbClr val="2B3B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59168" y="244144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B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62672" y="2432304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证据门控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059168" y="3392424"/>
            <a:ext cx="3529584" cy="0"/>
          </a:xfrm>
          <a:prstGeom prst="line">
            <a:avLst/>
          </a:prstGeom>
          <a:noFill/>
          <a:ln w="10160">
            <a:solidFill>
              <a:srgbClr val="2B3B5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59168" y="309981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B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62672" y="309067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多租户记忆隔离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059168" y="4050792"/>
            <a:ext cx="3529584" cy="0"/>
          </a:xfrm>
          <a:prstGeom prst="line">
            <a:avLst/>
          </a:prstGeom>
          <a:noFill/>
          <a:ln w="10160">
            <a:solidFill>
              <a:srgbClr val="2B3B5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59168" y="375818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B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662672" y="3749040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 执行闭环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059168" y="4709160"/>
            <a:ext cx="3529584" cy="0"/>
          </a:xfrm>
          <a:prstGeom prst="line">
            <a:avLst/>
          </a:prstGeom>
          <a:noFill/>
          <a:ln w="10160">
            <a:solidFill>
              <a:srgbClr val="2B3B5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59168" y="44165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B42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62672" y="440740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可观测与在线评估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68096" y="3840480"/>
            <a:ext cx="1572768" cy="658368"/>
          </a:xfrm>
          <a:prstGeom prst="roundRect">
            <a:avLst>
              <a:gd name="adj" fmla="val 11111"/>
            </a:avLst>
          </a:prstGeom>
          <a:solidFill>
            <a:srgbClr val="FFF4DE"/>
          </a:solidFill>
          <a:ln w="12700">
            <a:solidFill>
              <a:srgbClr val="F0B429">
                <a:alpha val="24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395020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77824" y="4215384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D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 AI Tool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505456" y="3840480"/>
            <a:ext cx="1572768" cy="658368"/>
          </a:xfrm>
          <a:prstGeom prst="roundRect">
            <a:avLst>
              <a:gd name="adj" fmla="val 11111"/>
            </a:avLst>
          </a:prstGeom>
          <a:solidFill>
            <a:srgbClr val="E5FAF8"/>
          </a:solidFill>
          <a:ln w="12700">
            <a:solidFill>
              <a:srgbClr val="19A7A8">
                <a:alpha val="24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70048" y="395020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86400s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2615184" y="4215384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D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 TTL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242816" y="3840480"/>
            <a:ext cx="1572768" cy="658368"/>
          </a:xfrm>
          <a:prstGeom prst="roundRect">
            <a:avLst>
              <a:gd name="adj" fmla="val 11111"/>
            </a:avLst>
          </a:prstGeom>
          <a:solidFill>
            <a:srgbClr val="EAF1FF"/>
          </a:solidFill>
          <a:ln w="12700">
            <a:solidFill>
              <a:srgbClr val="2F6BFF">
                <a:alpha val="24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07408" y="3950208"/>
            <a:ext cx="12435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5000ms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352544" y="4215384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D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慢请求阈值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50624" y="0"/>
            <a:ext cx="73152" cy="6858000"/>
          </a:xfrm>
          <a:prstGeom prst="rect">
            <a:avLst/>
          </a:prstGeom>
          <a:solidFill>
            <a:srgbClr val="2F6BFF">
              <a:alpha val="18000"/>
            </a:srgbClr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54864"/>
          </a:xfrm>
          <a:prstGeom prst="rect">
            <a:avLst/>
          </a:prstGeom>
          <a:solidFill>
            <a:srgbClr val="19A7A8">
              <a:alpha val="20000"/>
            </a:srgbClr>
          </a:solidFill>
          <a:ln w="12700">
            <a:solidFill>
              <a:srgbClr val="19A7A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512064"/>
            <a:ext cx="10881360" cy="0"/>
          </a:xfrm>
          <a:prstGeom prst="line">
            <a:avLst/>
          </a:prstGeom>
          <a:noFill/>
          <a:ln w="13970">
            <a:solidFill>
              <a:srgbClr val="D9E2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9494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" y="65836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 AI 亮点总览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33856" y="1024128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把散落的模型接入点收口为一套可控、可证、可运营的企业级 AI 服务。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22960" y="1508760"/>
            <a:ext cx="3401568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blurRad="25400" dist="12700" dir="2700000" algn="bl" rotWithShape="0">
              <a:srgbClr val="9AA9C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1508760"/>
            <a:ext cx="73152" cy="1261872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1655064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声明式 AI 编排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24128" y="1965960"/>
            <a:ext cx="30723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96" dirty="0">
                <a:solidFill>
                  <a:srgbClr val="5D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@AiService 把模型、提示词、记忆、RAG、Tool 统一装配，不在 Controller 手写 SDK 调用。</a:t>
            </a:r>
            <a:endParaRPr lang="en-US" sz="1296" dirty="0"/>
          </a:p>
        </p:txBody>
      </p:sp>
      <p:sp>
        <p:nvSpPr>
          <p:cNvPr id="13" name="Shape 11"/>
          <p:cNvSpPr/>
          <p:nvPr/>
        </p:nvSpPr>
        <p:spPr>
          <a:xfrm>
            <a:off x="4608576" y="1463040"/>
            <a:ext cx="3401568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blurRad="25400" dist="12700" dir="2700000" algn="bl" rotWithShape="0">
              <a:srgbClr val="9AA9C0">
                <a:alpha val="14000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14" name="Shape 12"/>
          <p:cNvSpPr/>
          <p:nvPr/>
        </p:nvSpPr>
        <p:spPr>
          <a:xfrm>
            <a:off x="4407408" y="1508760"/>
            <a:ext cx="73152" cy="1261872"/>
          </a:xfrm>
          <a:prstGeom prst="rect">
            <a:avLst/>
          </a:prstGeom>
          <a:solidFill>
            <a:srgbClr val="19A7A8"/>
          </a:solidFill>
          <a:ln w="12700">
            <a:solidFill>
              <a:srgbClr val="19A7A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08576" y="1655064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 RAG 检索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08576" y="1965960"/>
            <a:ext cx="30723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96" dirty="0">
                <a:solidFill>
                  <a:srgbClr val="5D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不是“搜到就答”，而是先做短文本过滤、最低分阈值和低置信拒答。</a:t>
            </a:r>
            <a:endParaRPr lang="en-US" sz="1296" dirty="0"/>
          </a:p>
        </p:txBody>
      </p:sp>
      <p:sp>
        <p:nvSpPr>
          <p:cNvPr id="17" name="Shape 15"/>
          <p:cNvSpPr/>
          <p:nvPr/>
        </p:nvSpPr>
        <p:spPr>
          <a:xfrm>
            <a:off x="7991856" y="1508760"/>
            <a:ext cx="3401568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blurRad="25400" dist="12700" dir="2700000" algn="bl" rotWithShape="0">
              <a:srgbClr val="9AA9C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91856" y="1508760"/>
            <a:ext cx="73152" cy="126187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93024" y="1655064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多租户会话记忆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193024" y="1965960"/>
            <a:ext cx="307238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96" dirty="0">
                <a:solidFill>
                  <a:srgbClr val="5D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tenantId + userId + memoryId 三段式记忆键，避免跨租户串话。</a:t>
            </a:r>
            <a:endParaRPr lang="en-US" sz="1296" dirty="0"/>
          </a:p>
        </p:txBody>
      </p:sp>
      <p:sp>
        <p:nvSpPr>
          <p:cNvPr id="21" name="Shape 19"/>
          <p:cNvSpPr/>
          <p:nvPr/>
        </p:nvSpPr>
        <p:spPr>
          <a:xfrm>
            <a:off x="822960" y="2999232"/>
            <a:ext cx="5266944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blurRad="25400" dist="12700" dir="2700000" algn="bl" rotWithShape="0">
              <a:srgbClr val="9AA9C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2960" y="2999232"/>
            <a:ext cx="73152" cy="1463040"/>
          </a:xfrm>
          <a:prstGeom prst="rect">
            <a:avLst/>
          </a:prstGeom>
          <a:solidFill>
            <a:srgbClr val="FF7A59"/>
          </a:solidFill>
          <a:ln w="12700">
            <a:solidFill>
              <a:srgbClr val="FF7A5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" y="3145536"/>
            <a:ext cx="4956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 执行型助手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24128" y="3456432"/>
            <a:ext cx="4937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96" dirty="0">
                <a:solidFill>
                  <a:srgbClr val="5D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AI 从问答升级为能查、能办、能开单的执行入口，同时接入角色鉴权、监控计量和请求级 trace。</a:t>
            </a:r>
            <a:endParaRPr lang="en-US" sz="1296" dirty="0"/>
          </a:p>
        </p:txBody>
      </p:sp>
      <p:sp>
        <p:nvSpPr>
          <p:cNvPr id="25" name="Shape 23"/>
          <p:cNvSpPr/>
          <p:nvPr/>
        </p:nvSpPr>
        <p:spPr>
          <a:xfrm>
            <a:off x="6309360" y="2999232"/>
            <a:ext cx="5065776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blurRad="25400" dist="12700" dir="2700000" algn="bl" rotWithShape="0">
              <a:srgbClr val="9AA9C0">
                <a:alpha val="14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309360" y="2999232"/>
            <a:ext cx="73152" cy="1463040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10528" y="3145536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可观测性 + 在线评估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10528" y="3456432"/>
            <a:ext cx="473659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96" dirty="0">
                <a:solidFill>
                  <a:srgbClr val="5D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把每次 AI 请求沉淀成结构化 trace，用规则化评分代替“再上一个模型做质检”。</a:t>
            </a:r>
            <a:endParaRPr lang="en-US" sz="1296" dirty="0"/>
          </a:p>
        </p:txBody>
      </p:sp>
      <p:sp>
        <p:nvSpPr>
          <p:cNvPr id="29" name="Shape 27"/>
          <p:cNvSpPr/>
          <p:nvPr/>
        </p:nvSpPr>
        <p:spPr>
          <a:xfrm>
            <a:off x="841248" y="4736592"/>
            <a:ext cx="10570464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60704" y="495604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代码可证指标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487168" y="4864608"/>
            <a:ext cx="1600200" cy="658368"/>
          </a:xfrm>
          <a:prstGeom prst="roundRect">
            <a:avLst>
              <a:gd name="adj" fmla="val 11111"/>
            </a:avLst>
          </a:prstGeom>
          <a:solidFill>
            <a:srgbClr val="EAF1FF"/>
          </a:solidFill>
          <a:ln w="12700">
            <a:solidFill>
              <a:srgbClr val="2F6BFF">
                <a:alpha val="24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51760" y="4974336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2596896" y="5239512"/>
            <a:ext cx="13807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D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模型超时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270248" y="4864608"/>
            <a:ext cx="1965960" cy="658368"/>
          </a:xfrm>
          <a:prstGeom prst="roundRect">
            <a:avLst>
              <a:gd name="adj" fmla="val 11111"/>
            </a:avLst>
          </a:prstGeom>
          <a:solidFill>
            <a:srgbClr val="E5FAF8"/>
          </a:solidFill>
          <a:ln w="12700">
            <a:solidFill>
              <a:srgbClr val="19A7A8">
                <a:alpha val="24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34840" y="4974336"/>
            <a:ext cx="1636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0.68 / 0.74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4379976" y="5239512"/>
            <a:ext cx="17465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D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阈值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419088" y="4864608"/>
            <a:ext cx="1627632" cy="658368"/>
          </a:xfrm>
          <a:prstGeom prst="roundRect">
            <a:avLst>
              <a:gd name="adj" fmla="val 11111"/>
            </a:avLst>
          </a:prstGeom>
          <a:solidFill>
            <a:srgbClr val="FFF4DE"/>
          </a:solidFill>
          <a:ln w="12700">
            <a:solidFill>
              <a:srgbClr val="F0B429">
                <a:alpha val="24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4974336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条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528816" y="5239512"/>
            <a:ext cx="1408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D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消息窗口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238744" y="4864608"/>
            <a:ext cx="1591056" cy="658368"/>
          </a:xfrm>
          <a:prstGeom prst="roundRect">
            <a:avLst>
              <a:gd name="adj" fmla="val 11111"/>
            </a:avLst>
          </a:prstGeom>
          <a:solidFill>
            <a:srgbClr val="E5FAF8"/>
          </a:solidFill>
          <a:ln w="12700">
            <a:solidFill>
              <a:srgbClr val="19A7A8">
                <a:alpha val="24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03336" y="4974336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8348472" y="5239512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D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 AI Tool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10012680" y="4864608"/>
            <a:ext cx="1170432" cy="658368"/>
          </a:xfrm>
          <a:prstGeom prst="roundRect">
            <a:avLst>
              <a:gd name="adj" fmla="val 11111"/>
            </a:avLst>
          </a:prstGeom>
          <a:solidFill>
            <a:srgbClr val="EAF1FF"/>
          </a:solidFill>
          <a:ln w="12700">
            <a:solidFill>
              <a:srgbClr val="2F6BFF">
                <a:alpha val="24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177272" y="4974336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35/30/20/15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0122408" y="5239512"/>
            <a:ext cx="9509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D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50624" y="0"/>
            <a:ext cx="73152" cy="6858000"/>
          </a:xfrm>
          <a:prstGeom prst="rect">
            <a:avLst/>
          </a:prstGeom>
          <a:solidFill>
            <a:srgbClr val="2F6BFF">
              <a:alpha val="18000"/>
            </a:srgbClr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54864"/>
          </a:xfrm>
          <a:prstGeom prst="rect">
            <a:avLst/>
          </a:prstGeom>
          <a:solidFill>
            <a:srgbClr val="19A7A8">
              <a:alpha val="20000"/>
            </a:srgbClr>
          </a:solidFill>
          <a:ln w="12700">
            <a:solidFill>
              <a:srgbClr val="19A7A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512064"/>
            <a:ext cx="10881360" cy="0"/>
          </a:xfrm>
          <a:prstGeom prst="line">
            <a:avLst/>
          </a:prstGeom>
          <a:noFill/>
          <a:ln w="13970">
            <a:solidFill>
              <a:srgbClr val="D9E2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9494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" y="65836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声明式 AI 编排 + 流式响应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33856" y="1024128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核心价值不是“能接模型”，而是“能稳定接进业务”，并把等待过程变成可见流程。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41248" y="1481328"/>
            <a:ext cx="3182112" cy="2029968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blurRad="25400" dist="12700" dir="2700000" algn="bl" rotWithShape="0">
              <a:srgbClr val="9AA9C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1248" y="1481328"/>
            <a:ext cx="73152" cy="202996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1627632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为什么这样设计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42416" y="1938528"/>
            <a:ext cx="285292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96" dirty="0">
                <a:solidFill>
                  <a:srgbClr val="5D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把模型调用、记忆读取、RAG 检索、Tool 调用都抽离出 Controller，统一进入受控的业务编排层。</a:t>
            </a:r>
            <a:endParaRPr lang="en-US" sz="1296" dirty="0"/>
          </a:p>
        </p:txBody>
      </p:sp>
      <p:sp>
        <p:nvSpPr>
          <p:cNvPr id="13" name="Shape 11"/>
          <p:cNvSpPr/>
          <p:nvPr/>
        </p:nvSpPr>
        <p:spPr>
          <a:xfrm>
            <a:off x="841248" y="3675888"/>
            <a:ext cx="3182112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blurRad="25400" dist="12700" dir="2700000" algn="bl" rotWithShape="0">
              <a:srgbClr val="9AA9C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" y="3675888"/>
            <a:ext cx="73152" cy="135331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" y="3822192"/>
            <a:ext cx="2871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讲法抓手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42416" y="4133088"/>
            <a:ext cx="285292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96" dirty="0">
                <a:solidFill>
                  <a:srgbClr val="5D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“我没有把大模型当 HTTP Client 去调用，而是把它抽象成一个受控的业务编排层。”</a:t>
            </a:r>
            <a:endParaRPr lang="en-US" sz="1296" dirty="0"/>
          </a:p>
        </p:txBody>
      </p:sp>
      <p:sp>
        <p:nvSpPr>
          <p:cNvPr id="17" name="Shape 15"/>
          <p:cNvSpPr/>
          <p:nvPr/>
        </p:nvSpPr>
        <p:spPr>
          <a:xfrm>
            <a:off x="4261104" y="1399032"/>
            <a:ext cx="3182112" cy="3547872"/>
          </a:xfrm>
          <a:prstGeom prst="roundRect">
            <a:avLst>
              <a:gd name="adj" fmla="val 1724"/>
            </a:avLst>
          </a:prstGeom>
          <a:solidFill>
            <a:srgbClr val="101826"/>
          </a:solidFill>
          <a:ln w="12700">
            <a:solidFill>
              <a:srgbClr val="D9E2F1"/>
            </a:solidFill>
            <a:prstDash val="solid"/>
          </a:ln>
          <a:effectLst>
            <a:outerShdw blurRad="25400" dist="12700" dir="2700000" algn="bl" rotWithShape="0">
              <a:srgbClr val="9AA9C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17136" y="17190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CB9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核心接口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98848" y="1993392"/>
            <a:ext cx="2338557" cy="2359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@AiService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wiringMode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EXPLICIT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chatModel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“</a:t>
            </a:r>
            <a:r>
              <a:rPr lang="en-US" sz="14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openAiChatModel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”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streamingChatModel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“</a:t>
            </a:r>
            <a:r>
              <a:rPr lang="en-US" sz="14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openAiStreamingChatModel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”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chatMemoryProvider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“</a:t>
            </a:r>
            <a:r>
              <a:rPr lang="en-US" sz="14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chatMemoryProvider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”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contentRetriever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“</a:t>
            </a:r>
            <a:r>
              <a:rPr lang="en-US" sz="1400" dirty="0" err="1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contentRetriever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”</a:t>
            </a:r>
            <a:r>
              <a:rPr lang="zh-CN" alt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）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717536" y="1481328"/>
            <a:ext cx="3639312" cy="3547872"/>
          </a:xfrm>
          <a:prstGeom prst="roundRect">
            <a:avLst>
              <a:gd name="adj" fmla="val 1546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73568" y="17190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请求到响应的数据流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991856" y="2084832"/>
            <a:ext cx="2999232" cy="347472"/>
          </a:xfrm>
          <a:prstGeom prst="roundRect">
            <a:avLst>
              <a:gd name="adj" fmla="val 13158"/>
            </a:avLst>
          </a:prstGeom>
          <a:solidFill>
            <a:srgbClr val="2F6BFF">
              <a:alpha val="14000"/>
            </a:srgbClr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93024" y="2176272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/chat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491472" y="2450592"/>
            <a:ext cx="0" cy="146304"/>
          </a:xfrm>
          <a:prstGeom prst="line">
            <a:avLst/>
          </a:prstGeom>
          <a:noFill/>
          <a:ln w="15240">
            <a:solidFill>
              <a:srgbClr val="97A6BA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991856" y="2596896"/>
            <a:ext cx="2999232" cy="347472"/>
          </a:xfrm>
          <a:prstGeom prst="roundRect">
            <a:avLst>
              <a:gd name="adj" fmla="val 13158"/>
            </a:avLst>
          </a:prstGeom>
          <a:solidFill>
            <a:srgbClr val="19A7A8">
              <a:alpha val="14000"/>
            </a:srgbClr>
          </a:solidFill>
          <a:ln w="12700">
            <a:solidFill>
              <a:srgbClr val="19A7A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93024" y="2688336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AiChatObservationService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491472" y="2962656"/>
            <a:ext cx="0" cy="146304"/>
          </a:xfrm>
          <a:prstGeom prst="line">
            <a:avLst/>
          </a:prstGeom>
          <a:noFill/>
          <a:ln w="15240">
            <a:solidFill>
              <a:srgbClr val="97A6BA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991856" y="3108960"/>
            <a:ext cx="2999232" cy="347472"/>
          </a:xfrm>
          <a:prstGeom prst="roundRect">
            <a:avLst>
              <a:gd name="adj" fmla="val 13158"/>
            </a:avLst>
          </a:prstGeom>
          <a:solidFill>
            <a:srgbClr val="F0B429">
              <a:alpha val="14000"/>
            </a:srgbClr>
          </a:solidFill>
          <a:ln w="12700">
            <a:solidFill>
              <a:srgbClr val="F0B429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93024" y="3200400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ConsultantService.chat()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491472" y="3474720"/>
            <a:ext cx="0" cy="146304"/>
          </a:xfrm>
          <a:prstGeom prst="line">
            <a:avLst/>
          </a:prstGeom>
          <a:noFill/>
          <a:ln w="15240">
            <a:solidFill>
              <a:srgbClr val="97A6BA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991856" y="3621024"/>
            <a:ext cx="2999232" cy="347472"/>
          </a:xfrm>
          <a:prstGeom prst="roundRect">
            <a:avLst>
              <a:gd name="adj" fmla="val 13158"/>
            </a:avLst>
          </a:prstGeom>
          <a:solidFill>
            <a:srgbClr val="FF7A59">
              <a:alpha val="14000"/>
            </a:srgbClr>
          </a:solidFill>
          <a:ln w="12700">
            <a:solidFill>
              <a:srgbClr val="FF7A59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93024" y="3712464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 / RAG / Tool 注入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491472" y="3986784"/>
            <a:ext cx="0" cy="146304"/>
          </a:xfrm>
          <a:prstGeom prst="line">
            <a:avLst/>
          </a:prstGeom>
          <a:noFill/>
          <a:ln w="15240">
            <a:solidFill>
              <a:srgbClr val="97A6BA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991856" y="4133088"/>
            <a:ext cx="2999232" cy="347472"/>
          </a:xfrm>
          <a:prstGeom prst="roundRect">
            <a:avLst>
              <a:gd name="adj" fmla="val 13158"/>
            </a:avLst>
          </a:prstGeom>
          <a:solidFill>
            <a:srgbClr val="2F6BFF">
              <a:alpha val="14000"/>
            </a:srgbClr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93024" y="4224528"/>
            <a:ext cx="2560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 持续推送给前端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991856" y="5248656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EAF1FF"/>
          </a:solidFill>
          <a:ln w="12700">
            <a:solidFill>
              <a:srgbClr val="2F6BFF">
                <a:alpha val="24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56448" y="5358384"/>
            <a:ext cx="1088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SSE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101584" y="5623560"/>
            <a:ext cx="1197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D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首要体验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9573768" y="5248656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FFF4DE"/>
          </a:solidFill>
          <a:ln w="12700">
            <a:solidFill>
              <a:srgbClr val="F0B429">
                <a:alpha val="24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38360" y="5358384"/>
            <a:ext cx="1088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60s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9683496" y="5623560"/>
            <a:ext cx="1197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D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模型超时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50624" y="0"/>
            <a:ext cx="73152" cy="6858000"/>
          </a:xfrm>
          <a:prstGeom prst="rect">
            <a:avLst/>
          </a:prstGeom>
          <a:solidFill>
            <a:srgbClr val="2F6BFF">
              <a:alpha val="18000"/>
            </a:srgbClr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54864"/>
          </a:xfrm>
          <a:prstGeom prst="rect">
            <a:avLst/>
          </a:prstGeom>
          <a:solidFill>
            <a:srgbClr val="19A7A8">
              <a:alpha val="20000"/>
            </a:srgbClr>
          </a:solidFill>
          <a:ln w="12700">
            <a:solidFill>
              <a:srgbClr val="19A7A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512064"/>
            <a:ext cx="10881360" cy="0"/>
          </a:xfrm>
          <a:prstGeom prst="line">
            <a:avLst/>
          </a:prstGeom>
          <a:noFill/>
          <a:ln w="13970">
            <a:solidFill>
              <a:srgbClr val="D9E2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9494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" y="65836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企业级 RAG：不是“搜到就答”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33856" y="1024128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关键不是召回多少，而是证据门控和低置信拒答，避免模型用“不像事实的事实”作答。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41248" y="1572768"/>
            <a:ext cx="2139696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1737360"/>
            <a:ext cx="384048" cy="384048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77393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17904" y="1719072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文档切块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517904" y="1956816"/>
            <a:ext cx="1298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D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PDF 清洗、递归分块，默认 chunk=350 / overlap=60。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072384" y="1572768"/>
            <a:ext cx="2139696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36976" y="1737360"/>
            <a:ext cx="384048" cy="384048"/>
          </a:xfrm>
          <a:prstGeom prst="ellipse">
            <a:avLst/>
          </a:prstGeom>
          <a:solidFill>
            <a:srgbClr val="19A7A8"/>
          </a:solidFill>
          <a:ln w="12700">
            <a:solidFill>
              <a:srgbClr val="19A7A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36976" y="177393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49040" y="1719072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向量化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749040" y="1956816"/>
            <a:ext cx="1298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45" dirty="0">
                <a:solidFill>
                  <a:srgbClr val="5D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EmbeddingModel 把片段入库到 Redis 向量存储。</a:t>
            </a:r>
            <a:endParaRPr lang="en-US" sz="1145" dirty="0"/>
          </a:p>
        </p:txBody>
      </p:sp>
      <p:sp>
        <p:nvSpPr>
          <p:cNvPr id="19" name="Shape 17"/>
          <p:cNvSpPr/>
          <p:nvPr/>
        </p:nvSpPr>
        <p:spPr>
          <a:xfrm>
            <a:off x="5303520" y="1572768"/>
            <a:ext cx="2139696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68112" y="1737360"/>
            <a:ext cx="384048" cy="384048"/>
          </a:xfrm>
          <a:prstGeom prst="ellipse">
            <a:avLst/>
          </a:prstGeom>
          <a:solidFill>
            <a:srgbClr val="F0B429"/>
          </a:solidFill>
          <a:ln w="12700">
            <a:solidFill>
              <a:srgbClr val="F0B429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68112" y="177393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80176" y="1719072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980176" y="1956816"/>
            <a:ext cx="1298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8" dirty="0">
                <a:solidFill>
                  <a:srgbClr val="5D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query 也先向量化，再按 maxResults 和 minScore 检索。</a:t>
            </a:r>
            <a:endParaRPr lang="en-US" sz="1108" dirty="0"/>
          </a:p>
        </p:txBody>
      </p:sp>
      <p:sp>
        <p:nvSpPr>
          <p:cNvPr id="24" name="Shape 22"/>
          <p:cNvSpPr/>
          <p:nvPr/>
        </p:nvSpPr>
        <p:spPr>
          <a:xfrm>
            <a:off x="7534656" y="1572768"/>
            <a:ext cx="2139696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99248" y="1737360"/>
            <a:ext cx="384048" cy="384048"/>
          </a:xfrm>
          <a:prstGeom prst="ellipse">
            <a:avLst/>
          </a:prstGeom>
          <a:solidFill>
            <a:srgbClr val="FF7A59"/>
          </a:solidFill>
          <a:ln w="12700">
            <a:solidFill>
              <a:srgbClr val="FF7A59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99248" y="1773936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11312" y="1719072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门控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211312" y="1956816"/>
            <a:ext cx="1298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45" dirty="0">
                <a:solidFill>
                  <a:srgbClr val="5D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短文本过滤 + topScore 校验，不够就拒答。</a:t>
            </a:r>
            <a:endParaRPr lang="en-US" sz="1145" dirty="0"/>
          </a:p>
        </p:txBody>
      </p:sp>
      <p:sp>
        <p:nvSpPr>
          <p:cNvPr id="29" name="Shape 27"/>
          <p:cNvSpPr/>
          <p:nvPr/>
        </p:nvSpPr>
        <p:spPr>
          <a:xfrm>
            <a:off x="2889504" y="2112264"/>
            <a:ext cx="146304" cy="0"/>
          </a:xfrm>
          <a:prstGeom prst="line">
            <a:avLst/>
          </a:prstGeom>
          <a:noFill/>
          <a:ln w="15240">
            <a:solidFill>
              <a:srgbClr val="97A6BA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120640" y="2112264"/>
            <a:ext cx="146304" cy="0"/>
          </a:xfrm>
          <a:prstGeom prst="line">
            <a:avLst/>
          </a:prstGeom>
          <a:noFill/>
          <a:ln w="15240">
            <a:solidFill>
              <a:srgbClr val="97A6BA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351776" y="2112264"/>
            <a:ext cx="146304" cy="0"/>
          </a:xfrm>
          <a:prstGeom prst="line">
            <a:avLst/>
          </a:prstGeom>
          <a:noFill/>
          <a:ln w="15240">
            <a:solidFill>
              <a:srgbClr val="97A6BA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96112" y="3017520"/>
            <a:ext cx="3840480" cy="204825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blurRad="25400" dist="12700" dir="2700000" algn="bl" rotWithShape="0">
              <a:srgbClr val="9AA9C0">
                <a:alpha val="14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41248" y="3017520"/>
            <a:ext cx="73152" cy="2048256"/>
          </a:xfrm>
          <a:prstGeom prst="rect">
            <a:avLst/>
          </a:prstGeom>
          <a:solidFill>
            <a:srgbClr val="19A7A8"/>
          </a:solidFill>
          <a:ln w="12700">
            <a:solidFill>
              <a:srgbClr val="19A7A8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42416" y="3163824"/>
            <a:ext cx="3529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StrictContentRetriever 的价值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42416" y="3474720"/>
            <a:ext cx="35112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96" dirty="0" err="1">
                <a:solidFill>
                  <a:srgbClr val="5D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不是把检索到的文本硬塞给模型，而是先判断这份证据值不值得信</a:t>
            </a:r>
            <a:r>
              <a:rPr lang="en-US" sz="1296" dirty="0">
                <a:solidFill>
                  <a:srgbClr val="5D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296" dirty="0"/>
          </a:p>
        </p:txBody>
      </p:sp>
      <p:sp>
        <p:nvSpPr>
          <p:cNvPr id="36" name="Shape 34"/>
          <p:cNvSpPr/>
          <p:nvPr/>
        </p:nvSpPr>
        <p:spPr>
          <a:xfrm>
            <a:off x="4882896" y="3017520"/>
            <a:ext cx="2834640" cy="2048256"/>
          </a:xfrm>
          <a:prstGeom prst="roundRect">
            <a:avLst>
              <a:gd name="adj" fmla="val 2679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02352" y="32735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关键阈值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102352" y="3621024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minScore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675120" y="3621024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0.68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102352" y="393192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answerableMinScore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675120" y="3931920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0.74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102352" y="4242816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maxResults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675120" y="4242816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102352" y="4553712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D6B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minSegmentLength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675120" y="4553712"/>
            <a:ext cx="6217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945065" y="3017520"/>
            <a:ext cx="3438144" cy="2048256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blurRad="25400" dist="12700" dir="2700000" algn="bl" rotWithShape="0">
              <a:srgbClr val="9AA9C0">
                <a:alpha val="14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918704" y="3017520"/>
            <a:ext cx="73152" cy="2048256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19872" y="3163824"/>
            <a:ext cx="31272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增量同步链路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8119872" y="34747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96" dirty="0">
                <a:solidFill>
                  <a:srgbClr val="5D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文档按 docId + docSha256 做变更检测。没变就跳过，变化则删旧向量、写新向量，并清理失效索引。</a:t>
            </a:r>
            <a:endParaRPr lang="en-US" sz="129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50624" y="0"/>
            <a:ext cx="73152" cy="6858000"/>
          </a:xfrm>
          <a:prstGeom prst="rect">
            <a:avLst/>
          </a:prstGeom>
          <a:solidFill>
            <a:srgbClr val="2F6BFF">
              <a:alpha val="18000"/>
            </a:srgbClr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54864"/>
          </a:xfrm>
          <a:prstGeom prst="rect">
            <a:avLst/>
          </a:prstGeom>
          <a:solidFill>
            <a:srgbClr val="19A7A8">
              <a:alpha val="20000"/>
            </a:srgbClr>
          </a:solidFill>
          <a:ln w="12700">
            <a:solidFill>
              <a:srgbClr val="19A7A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512064"/>
            <a:ext cx="10881360" cy="0"/>
          </a:xfrm>
          <a:prstGeom prst="line">
            <a:avLst/>
          </a:prstGeom>
          <a:noFill/>
          <a:ln w="13970">
            <a:solidFill>
              <a:srgbClr val="D9E2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9494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" y="65836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多租户会话记忆：不让 AI 串话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33856" y="1024128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会话记忆不是普通缓存，而是带隔离语义的会话状态存储。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41248" y="1554480"/>
            <a:ext cx="3730752" cy="4078224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18105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记忆键设计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60704" y="2267712"/>
            <a:ext cx="3255264" cy="493776"/>
          </a:xfrm>
          <a:prstGeom prst="roundRect">
            <a:avLst>
              <a:gd name="adj" fmla="val 9259"/>
            </a:avLst>
          </a:prstGeom>
          <a:solidFill>
            <a:srgbClr val="EAF1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61872" y="2432304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tenantId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60704" y="3108960"/>
            <a:ext cx="3255264" cy="493776"/>
          </a:xfrm>
          <a:prstGeom prst="roundRect">
            <a:avLst>
              <a:gd name="adj" fmla="val 9259"/>
            </a:avLst>
          </a:prstGeom>
          <a:solidFill>
            <a:srgbClr val="E5FAF8"/>
          </a:solidFill>
          <a:ln w="12700">
            <a:solidFill>
              <a:srgbClr val="19A7A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61872" y="3273552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userId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60704" y="3950208"/>
            <a:ext cx="3255264" cy="493776"/>
          </a:xfrm>
          <a:prstGeom prst="roundRect">
            <a:avLst>
              <a:gd name="adj" fmla="val 9259"/>
            </a:avLst>
          </a:prstGeom>
          <a:solidFill>
            <a:srgbClr val="FFF4DE"/>
          </a:solidFill>
          <a:ln w="12700">
            <a:solidFill>
              <a:srgbClr val="F0B42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61872" y="4114800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0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memoryId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78992" y="4992624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组合键让同租户不同用户、同用户不同会话都能安全隔离。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28032" y="1554480"/>
            <a:ext cx="2907792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blurRad="25400" dist="12700" dir="2700000" algn="bl" rotWithShape="0">
              <a:srgbClr val="9AA9C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28032" y="1554480"/>
            <a:ext cx="73152" cy="1901952"/>
          </a:xfrm>
          <a:prstGeom prst="rect">
            <a:avLst/>
          </a:prstGeom>
          <a:solidFill>
            <a:srgbClr val="19A7A8"/>
          </a:solidFill>
          <a:ln w="12700">
            <a:solidFill>
              <a:srgbClr val="19A7A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1700784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上下文解析链路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0" y="2011680"/>
            <a:ext cx="257860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96" dirty="0">
                <a:solidFill>
                  <a:srgbClr val="5D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TenantInterceptor 解析租户，上下文进入 ThreadLocal，再交由 RedisChatMemoryStore / MessageWindowChatMemory 落地。</a:t>
            </a:r>
            <a:endParaRPr lang="en-US" sz="1296" dirty="0"/>
          </a:p>
        </p:txBody>
      </p:sp>
      <p:sp>
        <p:nvSpPr>
          <p:cNvPr id="22" name="Shape 20"/>
          <p:cNvSpPr/>
          <p:nvPr/>
        </p:nvSpPr>
        <p:spPr>
          <a:xfrm>
            <a:off x="4828032" y="3730752"/>
            <a:ext cx="2907792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blurRad="25400" dist="12700" dir="2700000" algn="bl" rotWithShape="0">
              <a:srgbClr val="9AA9C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28032" y="3730752"/>
            <a:ext cx="73152" cy="1901952"/>
          </a:xfrm>
          <a:prstGeom prst="rect">
            <a:avLst/>
          </a:prstGeom>
          <a:solidFill>
            <a:srgbClr val="FF7A59"/>
          </a:solidFill>
          <a:ln w="12700">
            <a:solidFill>
              <a:srgbClr val="FF7A59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3877056"/>
            <a:ext cx="2596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为什么不用单纯 memoryId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029200" y="4187952"/>
            <a:ext cx="257860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96" dirty="0">
                <a:solidFill>
                  <a:srgbClr val="5D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只按 memoryId 存最容易发生跨租户数据串线，企业场景必须先考虑租户隔离和权限边界。</a:t>
            </a:r>
            <a:endParaRPr lang="en-US" sz="1296" dirty="0"/>
          </a:p>
        </p:txBody>
      </p:sp>
      <p:sp>
        <p:nvSpPr>
          <p:cNvPr id="26" name="Shape 24"/>
          <p:cNvSpPr/>
          <p:nvPr/>
        </p:nvSpPr>
        <p:spPr>
          <a:xfrm>
            <a:off x="7973568" y="1554480"/>
            <a:ext cx="3383280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blurRad="25400" dist="12700" dir="2700000" algn="bl" rotWithShape="0">
              <a:srgbClr val="9AA9C0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973568" y="1554480"/>
            <a:ext cx="73152" cy="1901952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74736" y="1700784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代码可证指标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174736" y="2011680"/>
            <a:ext cx="305409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96" dirty="0">
                <a:solidFill>
                  <a:srgbClr val="5D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窗口消息数 14 条；Redis TTL 86400 秒；异常时可以退化为非持久化或空上下文，不打崩主链路。</a:t>
            </a:r>
            <a:endParaRPr lang="en-US" sz="1296" dirty="0"/>
          </a:p>
        </p:txBody>
      </p:sp>
      <p:sp>
        <p:nvSpPr>
          <p:cNvPr id="30" name="Shape 28"/>
          <p:cNvSpPr/>
          <p:nvPr/>
        </p:nvSpPr>
        <p:spPr>
          <a:xfrm>
            <a:off x="7973568" y="3730752"/>
            <a:ext cx="3383280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blurRad="25400" dist="12700" dir="2700000" algn="bl" rotWithShape="0">
              <a:srgbClr val="9AA9C0">
                <a:alpha val="14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973568" y="3730752"/>
            <a:ext cx="73152" cy="190195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74736" y="3877056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面试可强调的能力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174736" y="4187952"/>
            <a:ext cx="3054096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96" dirty="0">
                <a:solidFill>
                  <a:srgbClr val="5D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你不是在“存聊天记录”，而是在设计企业 AI 的上下文安全模型。这个表述会比“做了记忆”更有分量。</a:t>
            </a:r>
            <a:endParaRPr lang="en-US" sz="1296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50624" y="0"/>
            <a:ext cx="73152" cy="6858000"/>
          </a:xfrm>
          <a:prstGeom prst="rect">
            <a:avLst/>
          </a:prstGeom>
          <a:solidFill>
            <a:srgbClr val="2F6BFF">
              <a:alpha val="18000"/>
            </a:srgbClr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54864"/>
          </a:xfrm>
          <a:prstGeom prst="rect">
            <a:avLst/>
          </a:prstGeom>
          <a:solidFill>
            <a:srgbClr val="19A7A8">
              <a:alpha val="20000"/>
            </a:srgbClr>
          </a:solidFill>
          <a:ln w="12700">
            <a:solidFill>
              <a:srgbClr val="19A7A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512064"/>
            <a:ext cx="10881360" cy="0"/>
          </a:xfrm>
          <a:prstGeom prst="line">
            <a:avLst/>
          </a:prstGeom>
          <a:noFill/>
          <a:ln w="13970">
            <a:solidFill>
              <a:srgbClr val="D9E2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9494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" y="65836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 执行型助手：把 AI 接到 ERP 真业务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33856" y="1024128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让模型不只会答，还能查数据、调服务、走业务流程，同时保留权限和审计边界。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41248" y="1572768"/>
            <a:ext cx="3145536" cy="1682496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blurRad="25400" dist="12700" dir="2700000" algn="bl" rotWithShape="0">
              <a:srgbClr val="9AA9C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1248" y="1572768"/>
            <a:ext cx="73152" cy="1682496"/>
          </a:xfrm>
          <a:prstGeom prst="rect">
            <a:avLst/>
          </a:prstGeom>
          <a:solidFill>
            <a:srgbClr val="FF7A59"/>
          </a:solidFill>
          <a:ln w="12700">
            <a:solidFill>
              <a:srgbClr val="FF7A59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1719072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场景升级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42416" y="2029968"/>
            <a:ext cx="28163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96" dirty="0">
                <a:solidFill>
                  <a:srgbClr val="5D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从“问答助手”升级为“能查、能办、能开单”的执行入口，贴近 ERP 真正可落地的价值。</a:t>
            </a:r>
            <a:endParaRPr lang="en-US" sz="1296" dirty="0"/>
          </a:p>
        </p:txBody>
      </p:sp>
      <p:sp>
        <p:nvSpPr>
          <p:cNvPr id="13" name="Shape 11"/>
          <p:cNvSpPr/>
          <p:nvPr/>
        </p:nvSpPr>
        <p:spPr>
          <a:xfrm>
            <a:off x="4206240" y="1572768"/>
            <a:ext cx="3840480" cy="3621024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62272" y="182880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执行链路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498848" y="2176272"/>
            <a:ext cx="3236976" cy="347472"/>
          </a:xfrm>
          <a:prstGeom prst="roundRect">
            <a:avLst>
              <a:gd name="adj" fmla="val 13158"/>
            </a:avLst>
          </a:prstGeom>
          <a:solidFill>
            <a:srgbClr val="2F6BFF">
              <a:alpha val="14000"/>
            </a:srgbClr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0016" y="2267712"/>
            <a:ext cx="2706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自然语言请求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08192" y="2532888"/>
            <a:ext cx="0" cy="173736"/>
          </a:xfrm>
          <a:prstGeom prst="line">
            <a:avLst/>
          </a:prstGeom>
          <a:noFill/>
          <a:ln w="15240">
            <a:solidFill>
              <a:srgbClr val="97A6BA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498848" y="2706624"/>
            <a:ext cx="3236976" cy="347472"/>
          </a:xfrm>
          <a:prstGeom prst="roundRect">
            <a:avLst>
              <a:gd name="adj" fmla="val 13158"/>
            </a:avLst>
          </a:prstGeom>
          <a:solidFill>
            <a:srgbClr val="19A7A8">
              <a:alpha val="14000"/>
            </a:srgbClr>
          </a:solidFill>
          <a:ln w="12700">
            <a:solidFill>
              <a:srgbClr val="19A7A8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0016" y="2798064"/>
            <a:ext cx="2706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判断意图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08192" y="3063240"/>
            <a:ext cx="0" cy="173736"/>
          </a:xfrm>
          <a:prstGeom prst="line">
            <a:avLst/>
          </a:prstGeom>
          <a:noFill/>
          <a:ln w="15240">
            <a:solidFill>
              <a:srgbClr val="97A6BA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498848" y="3236976"/>
            <a:ext cx="3236976" cy="347472"/>
          </a:xfrm>
          <a:prstGeom prst="roundRect">
            <a:avLst>
              <a:gd name="adj" fmla="val 13158"/>
            </a:avLst>
          </a:prstGeom>
          <a:solidFill>
            <a:srgbClr val="F0B429">
              <a:alpha val="14000"/>
            </a:srgbClr>
          </a:solidFill>
          <a:ln w="12700">
            <a:solidFill>
              <a:srgbClr val="F0B429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0016" y="3328416"/>
            <a:ext cx="2706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匹配业务 Tool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08192" y="3593592"/>
            <a:ext cx="0" cy="173736"/>
          </a:xfrm>
          <a:prstGeom prst="line">
            <a:avLst/>
          </a:prstGeom>
          <a:noFill/>
          <a:ln w="15240">
            <a:solidFill>
              <a:srgbClr val="97A6BA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498848" y="3767328"/>
            <a:ext cx="3236976" cy="347472"/>
          </a:xfrm>
          <a:prstGeom prst="roundRect">
            <a:avLst>
              <a:gd name="adj" fmla="val 13158"/>
            </a:avLst>
          </a:prstGeom>
          <a:solidFill>
            <a:srgbClr val="FF7A59">
              <a:alpha val="14000"/>
            </a:srgbClr>
          </a:solidFill>
          <a:ln w="12700">
            <a:solidFill>
              <a:srgbClr val="FF7A59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0016" y="3858768"/>
            <a:ext cx="2706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 / MyBatis 执行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08192" y="4123944"/>
            <a:ext cx="0" cy="173736"/>
          </a:xfrm>
          <a:prstGeom prst="line">
            <a:avLst/>
          </a:prstGeom>
          <a:noFill/>
          <a:ln w="15240">
            <a:solidFill>
              <a:srgbClr val="97A6BA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498848" y="4297680"/>
            <a:ext cx="3236976" cy="347472"/>
          </a:xfrm>
          <a:prstGeom prst="roundRect">
            <a:avLst>
              <a:gd name="adj" fmla="val 13158"/>
            </a:avLst>
          </a:prstGeom>
          <a:solidFill>
            <a:srgbClr val="2F6BFF">
              <a:alpha val="14000"/>
            </a:srgbClr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0016" y="4389120"/>
            <a:ext cx="27066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 + 结果回填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247888" y="1572768"/>
            <a:ext cx="3090672" cy="1682496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blurRad="25400" dist="12700" dir="2700000" algn="bl" rotWithShape="0">
              <a:srgbClr val="9AA9C0">
                <a:alpha val="1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47888" y="1572768"/>
            <a:ext cx="73152" cy="1682496"/>
          </a:xfrm>
          <a:prstGeom prst="rect">
            <a:avLst/>
          </a:prstGeom>
          <a:solidFill>
            <a:srgbClr val="19A7A8"/>
          </a:solidFill>
          <a:ln w="12700">
            <a:solidFill>
              <a:srgbClr val="19A7A8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49056" y="1719072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控制栈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449056" y="2029968"/>
            <a:ext cx="2761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96" dirty="0">
                <a:solidFill>
                  <a:srgbClr val="5D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 链路同时接入角色鉴权、监控计量和请求级 trace，保证模型能调的动作和用户有权执行的动作是同一边界。</a:t>
            </a:r>
            <a:endParaRPr lang="en-US" sz="1296" dirty="0"/>
          </a:p>
        </p:txBody>
      </p:sp>
      <p:sp>
        <p:nvSpPr>
          <p:cNvPr id="33" name="Shape 31"/>
          <p:cNvSpPr/>
          <p:nvPr/>
        </p:nvSpPr>
        <p:spPr>
          <a:xfrm>
            <a:off x="841248" y="3511296"/>
            <a:ext cx="3145536" cy="1682496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blurRad="25400" dist="12700" dir="2700000" algn="bl" rotWithShape="0">
              <a:srgbClr val="9AA9C0">
                <a:alpha val="14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41248" y="3511296"/>
            <a:ext cx="73152" cy="1682496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42416" y="3657600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已接入 Tool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42416" y="3968496"/>
            <a:ext cx="28163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96" dirty="0">
                <a:solidFill>
                  <a:srgbClr val="5D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systemManagementTool、materialTool、inventoryBillTool、financeTool、reportTool，共 5 个。</a:t>
            </a:r>
            <a:endParaRPr lang="en-US" sz="1296" dirty="0"/>
          </a:p>
        </p:txBody>
      </p:sp>
      <p:sp>
        <p:nvSpPr>
          <p:cNvPr id="37" name="Shape 35"/>
          <p:cNvSpPr/>
          <p:nvPr/>
        </p:nvSpPr>
        <p:spPr>
          <a:xfrm>
            <a:off x="8247888" y="3511296"/>
            <a:ext cx="3090672" cy="1682496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blurRad="25400" dist="12700" dir="2700000" algn="bl" rotWithShape="0">
              <a:srgbClr val="9AA9C0">
                <a:alpha val="14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247888" y="3511296"/>
            <a:ext cx="73152" cy="1682496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49056" y="3657600"/>
            <a:ext cx="27797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下一步演进方向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449056" y="3968496"/>
            <a:ext cx="2761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96" dirty="0">
                <a:solidFill>
                  <a:srgbClr val="5D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把隐式意图路由升级为显式 Intent Router，再配合 slot filling 管理补参过程。</a:t>
            </a:r>
            <a:endParaRPr lang="en-US" sz="1296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50624" y="0"/>
            <a:ext cx="73152" cy="6858000"/>
          </a:xfrm>
          <a:prstGeom prst="rect">
            <a:avLst/>
          </a:prstGeom>
          <a:solidFill>
            <a:srgbClr val="2F6BFF">
              <a:alpha val="18000"/>
            </a:srgbClr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11696"/>
            <a:ext cx="12191695" cy="54864"/>
          </a:xfrm>
          <a:prstGeom prst="rect">
            <a:avLst/>
          </a:prstGeom>
          <a:solidFill>
            <a:srgbClr val="19A7A8">
              <a:alpha val="20000"/>
            </a:srgbClr>
          </a:solidFill>
          <a:ln w="12700">
            <a:solidFill>
              <a:srgbClr val="19A7A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512064"/>
            <a:ext cx="10881360" cy="0"/>
          </a:xfrm>
          <a:prstGeom prst="line">
            <a:avLst/>
          </a:prstGeom>
          <a:noFill/>
          <a:ln w="13970">
            <a:solidFill>
              <a:srgbClr val="D9E2F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69494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F6B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" y="65836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可观测性 + 在线评估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33856" y="1024128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把每次 AI 请求做成可回放、可分析、可评分的运行画像，而不是只打一行日志。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41248" y="1554480"/>
            <a:ext cx="3913632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blurRad="25400" dist="12700" dir="2700000" algn="bl" rotWithShape="0">
              <a:srgbClr val="9AA9C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1248" y="1554480"/>
            <a:ext cx="73152" cy="1572768"/>
          </a:xfrm>
          <a:prstGeom prst="rect">
            <a:avLst/>
          </a:prstGeom>
          <a:solidFill>
            <a:srgbClr val="2F6BFF"/>
          </a:solidFill>
          <a:ln w="12700">
            <a:solidFill>
              <a:srgbClr val="2F6B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1700784"/>
            <a:ext cx="3602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AiChatObservationService 是总线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42416" y="2011680"/>
            <a:ext cx="358444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96" dirty="0">
                <a:solidFill>
                  <a:srgbClr val="5D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串起 partial response、retrieval、tool、complete、error 等全链路事件，负责 trace 采集与指标发布。</a:t>
            </a:r>
            <a:endParaRPr lang="en-US" sz="1296" dirty="0"/>
          </a:p>
        </p:txBody>
      </p:sp>
      <p:sp>
        <p:nvSpPr>
          <p:cNvPr id="13" name="Shape 11"/>
          <p:cNvSpPr/>
          <p:nvPr/>
        </p:nvSpPr>
        <p:spPr>
          <a:xfrm>
            <a:off x="841248" y="3346704"/>
            <a:ext cx="3913632" cy="2139696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blurRad="25400" dist="12700" dir="2700000" algn="bl" rotWithShape="0">
              <a:srgbClr val="9AA9C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" y="3346704"/>
            <a:ext cx="73152" cy="2139696"/>
          </a:xfrm>
          <a:prstGeom prst="rect">
            <a:avLst/>
          </a:prstGeom>
          <a:solidFill>
            <a:srgbClr val="19A7A8"/>
          </a:solidFill>
          <a:ln w="12700">
            <a:solidFill>
              <a:srgbClr val="19A7A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" y="3493008"/>
            <a:ext cx="36027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结构化请求画像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42416" y="3803904"/>
            <a:ext cx="35844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96" dirty="0">
                <a:solidFill>
                  <a:srgbClr val="5D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requestId、latencyMs、firstTokenLatencyMs、retrievedCount、topRetrievalScore、toolTraces、token 用量等，都会进入请求级上下文。</a:t>
            </a:r>
            <a:endParaRPr lang="en-US" sz="1296" dirty="0"/>
          </a:p>
        </p:txBody>
      </p:sp>
      <p:sp>
        <p:nvSpPr>
          <p:cNvPr id="17" name="Shape 15"/>
          <p:cNvSpPr/>
          <p:nvPr/>
        </p:nvSpPr>
        <p:spPr>
          <a:xfrm>
            <a:off x="5010912" y="1554480"/>
            <a:ext cx="6345936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66944" y="179222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在线评估权重</a:t>
            </a:r>
            <a:endParaRPr lang="en-US" sz="120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5321808" y="2139696"/>
          <a:ext cx="3035808" cy="26151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Shape 17"/>
          <p:cNvSpPr/>
          <p:nvPr/>
        </p:nvSpPr>
        <p:spPr>
          <a:xfrm>
            <a:off x="8613648" y="2139696"/>
            <a:ext cx="2487168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blurRad="25400" dist="12700" dir="2700000" algn="bl" rotWithShape="0">
              <a:srgbClr val="9AA9C0">
                <a:alpha val="14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8613648" y="2139696"/>
            <a:ext cx="73152" cy="1133856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814816" y="228600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慢请求阈值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814816" y="2596896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96" dirty="0">
                <a:solidFill>
                  <a:srgbClr val="5D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5000ms</a:t>
            </a:r>
            <a:endParaRPr lang="en-US" sz="1296" dirty="0"/>
          </a:p>
        </p:txBody>
      </p:sp>
      <p:sp>
        <p:nvSpPr>
          <p:cNvPr id="24" name="Shape 21"/>
          <p:cNvSpPr/>
          <p:nvPr/>
        </p:nvSpPr>
        <p:spPr>
          <a:xfrm>
            <a:off x="8613648" y="3493008"/>
            <a:ext cx="2487168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blurRad="25400" dist="12700" dir="2700000" algn="bl" rotWithShape="0">
              <a:srgbClr val="9AA9C0">
                <a:alpha val="1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8613648" y="3493008"/>
            <a:ext cx="73152" cy="1133856"/>
          </a:xfrm>
          <a:prstGeom prst="rect">
            <a:avLst/>
          </a:prstGeom>
          <a:solidFill>
            <a:srgbClr val="FF7A59"/>
          </a:solidFill>
          <a:ln w="12700">
            <a:solidFill>
              <a:srgbClr val="FF7A59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814816" y="3639312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响应预览上限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8814816" y="3950208"/>
            <a:ext cx="2157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96" dirty="0">
                <a:solidFill>
                  <a:srgbClr val="5D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12000 字符</a:t>
            </a:r>
            <a:endParaRPr lang="en-US" sz="1296" dirty="0"/>
          </a:p>
        </p:txBody>
      </p:sp>
      <p:sp>
        <p:nvSpPr>
          <p:cNvPr id="28" name="Shape 25"/>
          <p:cNvSpPr/>
          <p:nvPr/>
        </p:nvSpPr>
        <p:spPr>
          <a:xfrm>
            <a:off x="8613648" y="4608576"/>
            <a:ext cx="2487168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blurRad="25400" dist="12700" dir="2700000" algn="bl" rotWithShape="0">
              <a:srgbClr val="9AA9C0">
                <a:alpha val="14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8613648" y="4608576"/>
            <a:ext cx="73152" cy="694944"/>
          </a:xfrm>
          <a:prstGeom prst="rect">
            <a:avLst/>
          </a:prstGeom>
          <a:solidFill>
            <a:srgbClr val="19A7A8"/>
          </a:solidFill>
          <a:ln w="12700">
            <a:solidFill>
              <a:srgbClr val="19A7A8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814816" y="4754880"/>
            <a:ext cx="2176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 预览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8814816" y="5065776"/>
            <a:ext cx="2157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D6B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400 字符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549</Words>
  <Application>Microsoft Office PowerPoint</Application>
  <PresentationFormat>宽屏</PresentationFormat>
  <Paragraphs>144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Microsoft YaHei</vt:lpstr>
      <vt:lpstr>Arial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ERP 智能助手后端 AI 架构亮点</dc:title>
  <dc:subject>ERP AI backend interview presentation</dc:subject>
  <dc:creator>OpenAI Codex</dc:creator>
  <cp:lastModifiedBy>锦环 王</cp:lastModifiedBy>
  <cp:revision>7</cp:revision>
  <dcterms:created xsi:type="dcterms:W3CDTF">2026-04-08T07:02:15Z</dcterms:created>
  <dcterms:modified xsi:type="dcterms:W3CDTF">2026-04-09T01:46:08Z</dcterms:modified>
</cp:coreProperties>
</file>